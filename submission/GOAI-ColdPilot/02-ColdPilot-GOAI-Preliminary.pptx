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DPILO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-1143000"/>
            <a:ext cx="3749040" cy="3749040"/>
          </a:xfrm>
          <a:prstGeom prst="ellipse">
            <a:avLst/>
          </a:prstGeom>
          <a:solidFill>
            <a:srgbClr val="0A0A0A">
              <a:alpha val="0"/>
            </a:srgbClr>
          </a:solidFill>
          <a:ln w="13970">
            <a:solidFill>
              <a:srgbClr val="0070F3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9480" y="-594360"/>
            <a:ext cx="2651760" cy="2651760"/>
          </a:xfrm>
          <a:prstGeom prst="ellipse">
            <a:avLst/>
          </a:prstGeom>
          <a:solidFill>
            <a:srgbClr val="0A0A0A">
              <a:alpha val="0"/>
            </a:srgbClr>
          </a:solidFill>
          <a:ln w="10160">
            <a:solidFill>
              <a:srgbClr val="D4AF37">
                <a:alpha val="5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GOAI · BOUNDLESS AGENTS / AI + INDUSTRIAL MANUFACTURING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鲜知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ColdPilot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21792" y="261518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E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果蔬冷库安全可控工业 Agent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21792" y="320040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自主诊断与验证，让安全边界始终由确定性规则和人类掌握。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989320" y="1115568"/>
            <a:ext cx="233172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1" name="Image 0" descr="X:\xianniu\frontend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417320"/>
            <a:ext cx="1737360" cy="1737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42432" y="36850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E0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 ·  SIMULATE  ·  GOVERN  ·  VERIFY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612648" y="4325112"/>
            <a:ext cx="7955280" cy="0"/>
          </a:xfrm>
          <a:prstGeom prst="line">
            <a:avLst/>
          </a:prstGeom>
          <a:noFill/>
          <a:ln w="889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45354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 · 2026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876288" y="4471416"/>
            <a:ext cx="1664208" cy="329184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可运行全栈 MVP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SCENE &amp;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真正的难点不是告警，而是安全地闭环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161288"/>
            <a:ext cx="3840480" cy="3255264"/>
          </a:xfrm>
          <a:prstGeom prst="roundRect">
            <a:avLst>
              <a:gd name="adj" fmla="val 2247"/>
            </a:avLst>
          </a:prstGeom>
          <a:solidFill>
            <a:srgbClr val="F5F5F5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2267712" cy="246888"/>
          </a:xfrm>
          <a:prstGeom prst="roundRect">
            <a:avLst>
              <a:gd name="adj" fmla="val 44444"/>
            </a:avLst>
          </a:prstGeom>
          <a:solidFill>
            <a:srgbClr val="FEF9E7"/>
          </a:solidFill>
          <a:ln w="6350">
            <a:solidFill>
              <a:srgbClr val="FEF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80744"/>
            <a:ext cx="2267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6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传统处置：信息碎片 + 经验判断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76656" y="1783080"/>
            <a:ext cx="14996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65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07568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 / 气体 / 压差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368296" y="1783080"/>
            <a:ext cx="14996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1865376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库门记录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78024" y="207568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作业与外界扰动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76656" y="2459736"/>
            <a:ext cx="14996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5420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设备日志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275234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压缩机 / 风机 / 阀门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368296" y="2459736"/>
            <a:ext cx="14996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8024" y="25420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库存批次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78024" y="275234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 / 数量 / 安全窗口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86384" y="3136392"/>
            <a:ext cx="312724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218688"/>
            <a:ext cx="2907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与案例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342900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规则散落、经验依赖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13232" y="3913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人工需要同时回答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37360" y="38404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原因是什么？哪个方案更稳？谁来授权？执行后真的恢复了吗？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407408" y="2688336"/>
            <a:ext cx="502920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10912" y="1161288"/>
            <a:ext cx="3657600" cy="3255264"/>
          </a:xfrm>
          <a:prstGeom prst="roundRect">
            <a:avLst>
              <a:gd name="adj" fmla="val 2247"/>
            </a:avLst>
          </a:prstGeom>
          <a:solidFill>
            <a:srgbClr val="0A0A0A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1371600"/>
            <a:ext cx="2029968" cy="246888"/>
          </a:xfrm>
          <a:prstGeom prst="roundRect">
            <a:avLst>
              <a:gd name="adj" fmla="val 44444"/>
            </a:avLst>
          </a:prstGeom>
          <a:solidFill>
            <a:srgbClr val="0070F3"/>
          </a:solidFill>
          <a:ln w="6350">
            <a:solidFill>
              <a:srgbClr val="007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380744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ColdPilot：证据驱动的受控自治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85232" y="18013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61888" y="1764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冷库管理员、冷链运营负责人、设备运维与安全审计人员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285232" y="2286000"/>
            <a:ext cx="201168" cy="20116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05272" y="2258568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看懂异常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91656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五类工具自动取数，输出原因排序与正反证据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285232" y="2788920"/>
            <a:ext cx="201168" cy="20116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5272" y="2761488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比较方案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91656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在控制前仿真恢复时间、能耗、过冲与冻害风险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85232" y="3291840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05272" y="3264408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守住边界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91656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必须人工审批；L3 联锁绕过永久禁止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85232" y="3794760"/>
            <a:ext cx="201168" cy="20116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05272" y="3767328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91656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执行不等于恢复，验证通过后才生成闭环报告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85232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53328" y="4123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 Agent 的价值不在“替人拍板”，而在“判断更深、边界更硬、结果更实”。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场景：果蔬冷库持续高温等异常处置；痛点表述依据当前产品流程，真实客户量化数据仍待试点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TASK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不是聊天窗口：这是从异常到验证的任务闭环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自主推进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1271016"/>
            <a:ext cx="3749040" cy="0"/>
          </a:xfrm>
          <a:prstGeom prst="line">
            <a:avLst/>
          </a:prstGeom>
          <a:noFill/>
          <a:ln w="15240">
            <a:solidFill>
              <a:srgbClr val="007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8112" y="11430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人在关键节点负责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39712" y="1271016"/>
            <a:ext cx="1691640" cy="0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733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6733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异常进入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30936" y="204825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持续高温事件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40280" y="1993392"/>
            <a:ext cx="256032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87752" y="1572768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16733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16733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工具诊断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2715768" y="204825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多源取数与留痕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325112" y="1993392"/>
            <a:ext cx="256032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1572768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6733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93792" y="16733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原因证据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800600" y="204825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正反证据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409944" y="1993392"/>
            <a:ext cx="256032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57416" y="1572768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16733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78624" y="167335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候选方案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885432" y="204825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/ B 控制策略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02920" y="283464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93522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29352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仿真校验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630936" y="33101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效果与风险预测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240280" y="3255264"/>
            <a:ext cx="256032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87752" y="283464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EF9E7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293522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08960" y="29352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2715768" y="33101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停下等授权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325112" y="3255264"/>
            <a:ext cx="256032" cy="0"/>
          </a:xfrm>
          <a:prstGeom prst="line">
            <a:avLst/>
          </a:prstGeom>
          <a:noFill/>
          <a:ln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672584" y="283464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3522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93792" y="29352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受控执行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4800600" y="33101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结构化命令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409944" y="3255264"/>
            <a:ext cx="256032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57416" y="283464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293522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78624" y="29352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6885432" y="331012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通过才恢复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663440" y="4187952"/>
            <a:ext cx="841248" cy="246888"/>
          </a:xfrm>
          <a:prstGeom prst="roundRect">
            <a:avLst>
              <a:gd name="adj" fmla="val 44444"/>
            </a:avLst>
          </a:prstGeom>
          <a:solidFill>
            <a:srgbClr val="FEF9E7"/>
          </a:solidFill>
          <a:ln w="6350">
            <a:solidFill>
              <a:srgbClr val="FEF9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19709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6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关键守卫 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623560" y="4178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方案必须绑定版本并由人工审批；版本变化后旧审批失效。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7784" y="4187952"/>
            <a:ext cx="841248" cy="246888"/>
          </a:xfrm>
          <a:prstGeom prst="roundRect">
            <a:avLst>
              <a:gd name="adj" fmla="val 44444"/>
            </a:avLst>
          </a:prstGeom>
          <a:solidFill>
            <a:srgbClr val="E0EFFF"/>
          </a:solidFill>
          <a:ln w="6350">
            <a:solidFill>
              <a:srgbClr val="E0E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" y="419709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关键守卫 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517904" y="4178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执行完成 ≠ 事件恢复；必须进入 verifying 并满足恢复条件。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仓库事实：前端 15 阶段状态机与后端状态迁移共同约束流程；当前异常检测输入和执行均为演示/仿真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PRODUCT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Demo：自主推进，L2 人工接管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06640" y="585216"/>
            <a:ext cx="1188720" cy="246888"/>
          </a:xfrm>
          <a:prstGeom prst="roundRect">
            <a:avLst>
              <a:gd name="adj" fmla="val 44444"/>
            </a:avLst>
          </a:prstGeom>
          <a:solidFill>
            <a:srgbClr val="E0EFFF"/>
          </a:solidFill>
          <a:ln w="6350">
            <a:solidFill>
              <a:srgbClr val="E0E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59436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真实浏览器截图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38912" y="1143000"/>
            <a:ext cx="5989320" cy="3438144"/>
          </a:xfrm>
          <a:prstGeom prst="roundRect">
            <a:avLst>
              <a:gd name="adj" fmla="val 2128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pic>
        <p:nvPicPr>
          <p:cNvPr id="7" name="Image 0" descr="X:\xianniu\frontend\acceptance\agent-awaiting-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197864"/>
            <a:ext cx="5325466" cy="33284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" y="4306824"/>
            <a:ext cx="5751576" cy="182880"/>
          </a:xfrm>
          <a:prstGeom prst="rect">
            <a:avLst/>
          </a:prstGeom>
          <a:solidFill>
            <a:srgbClr val="0A0A0A">
              <a:alpha val="82000"/>
            </a:srgbClr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首页看板：多源环境、候选控制方案、L2 审批与 L3 禁止边界同屏呈现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693408" y="1197864"/>
            <a:ext cx="1993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30568" y="13167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23760" y="13167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自动推进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39712" y="1636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无需聊天输入，Agent 自动完成诊断、仿真与安全检查。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6693408" y="2185416"/>
            <a:ext cx="1993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30568" y="23042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3760" y="23042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人工授权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39712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控制参数、当前值、目标值和允许范围在批准前完整可见。</a:t>
            </a:r>
            <a:endParaRPr lang="en-US" sz="730" dirty="0"/>
          </a:p>
        </p:txBody>
      </p:sp>
      <p:sp>
        <p:nvSpPr>
          <p:cNvPr id="17" name="Shape 14"/>
          <p:cNvSpPr/>
          <p:nvPr/>
        </p:nvSpPr>
        <p:spPr>
          <a:xfrm>
            <a:off x="6693408" y="3172968"/>
            <a:ext cx="19933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0568" y="32918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223760" y="329184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责任边界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39712" y="3611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危险动作不进入方案、审批、命令或执行链。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6729984" y="419709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一屏回答评委最关心的三个问题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6739128" y="44165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做了什么？人何时介入？危险动作如何被阻止？</a:t>
            </a:r>
            <a:endParaRPr lang="en-US" sz="740" dirty="0"/>
          </a:p>
        </p:txBody>
      </p:sp>
      <p:sp>
        <p:nvSpPr>
          <p:cNvPr id="23" name="Text 20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截图：frontend/acceptance/agent-awaiting-approval.png；页面数据为演示数据，方案指标为仿真结果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AGENT &amp; 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能力：五类工具取数，结论可解释、可追溯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143000"/>
            <a:ext cx="5925312" cy="3529584"/>
          </a:xfrm>
          <a:prstGeom prst="roundRect">
            <a:avLst>
              <a:gd name="adj" fmla="val 2073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pic>
        <p:nvPicPr>
          <p:cNvPr id="5" name="Image 0" descr="X:\xianniu\frontend\docs\screenshots\verify-agent-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272159"/>
            <a:ext cx="5815584" cy="32712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" y="4398264"/>
            <a:ext cx="5687568" cy="182880"/>
          </a:xfrm>
          <a:prstGeom prst="rect">
            <a:avLst/>
          </a:prstGeom>
          <a:solidFill>
            <a:srgbClr val="0A0A0A">
              <a:alpha val="82000"/>
            </a:srgbClr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工作台：工具调用进度、事件趋势和业务上下文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6565392" y="1143000"/>
            <a:ext cx="2121408" cy="221284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93992" y="13441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真实后端工具调用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0" y="1764792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04304" y="173736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telemetry.query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7004304" y="187452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 / 湿度 / O₂ / CO₂ / 压差</a:t>
            </a:r>
            <a:endParaRPr lang="en-US" sz="570" dirty="0"/>
          </a:p>
        </p:txBody>
      </p:sp>
      <p:sp>
        <p:nvSpPr>
          <p:cNvPr id="12" name="Shape 9"/>
          <p:cNvSpPr/>
          <p:nvPr/>
        </p:nvSpPr>
        <p:spPr>
          <a:xfrm>
            <a:off x="6766560" y="2066544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04304" y="2039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doorlog.query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7004304" y="2176272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库门开启时段与持续时间</a:t>
            </a:r>
            <a:endParaRPr lang="en-US" sz="570" dirty="0"/>
          </a:p>
        </p:txBody>
      </p:sp>
      <p:sp>
        <p:nvSpPr>
          <p:cNvPr id="15" name="Shape 12"/>
          <p:cNvSpPr/>
          <p:nvPr/>
        </p:nvSpPr>
        <p:spPr>
          <a:xfrm>
            <a:off x="6766560" y="2368296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04304" y="234086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devicelog.query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7004304" y="2478024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压缩机 / 风机 / 阀门状态</a:t>
            </a:r>
            <a:endParaRPr lang="en-US" sz="570" dirty="0"/>
          </a:p>
        </p:txBody>
      </p:sp>
      <p:sp>
        <p:nvSpPr>
          <p:cNvPr id="18" name="Shape 15"/>
          <p:cNvSpPr/>
          <p:nvPr/>
        </p:nvSpPr>
        <p:spPr>
          <a:xfrm>
            <a:off x="6766560" y="2670048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04304" y="264261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knowledge.search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7004304" y="2779776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冷库高温处置知识</a:t>
            </a:r>
            <a:endParaRPr lang="en-US" sz="570" dirty="0"/>
          </a:p>
        </p:txBody>
      </p:sp>
      <p:sp>
        <p:nvSpPr>
          <p:cNvPr id="21" name="Shape 18"/>
          <p:cNvSpPr/>
          <p:nvPr/>
        </p:nvSpPr>
        <p:spPr>
          <a:xfrm>
            <a:off x="6766560" y="2971800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04304" y="294436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cases.search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7004304" y="3081528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相似异常历史案例</a:t>
            </a:r>
            <a:endParaRPr lang="en-US" sz="570" dirty="0"/>
          </a:p>
        </p:txBody>
      </p:sp>
      <p:sp>
        <p:nvSpPr>
          <p:cNvPr id="24" name="Shape 21"/>
          <p:cNvSpPr/>
          <p:nvPr/>
        </p:nvSpPr>
        <p:spPr>
          <a:xfrm>
            <a:off x="6565392" y="3520440"/>
            <a:ext cx="2121408" cy="1152144"/>
          </a:xfrm>
          <a:prstGeom prst="roundRect">
            <a:avLst>
              <a:gd name="adj" fmla="val 6349"/>
            </a:avLst>
          </a:prstGeom>
          <a:solidFill>
            <a:srgbClr val="0A0A0A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84848" y="3694176"/>
            <a:ext cx="841248" cy="246888"/>
          </a:xfrm>
          <a:prstGeom prst="roundRect">
            <a:avLst>
              <a:gd name="adj" fmla="val 44444"/>
            </a:avLst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84848" y="37033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结构化产出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784848" y="3995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原因排序 + 置信度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支持证据 + 反向证据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不确定项 + 现场核查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84848" y="4407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每次调用均记录完整输入输出、摘要、耗时与状态。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默认模式为离线确定性 Agent；可选 OpenAI 兼容 LLM 仅综合诊断原因，不决定安全、审批或执行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SIMULATION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控制前先仿真：把效果、能耗与风险放在同一张桌上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124712"/>
            <a:ext cx="5897880" cy="356616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pic>
        <p:nvPicPr>
          <p:cNvPr id="5" name="Image 0" descr="X:\xianniu\frontend\acceptance\final-simulation-14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514" y="1179576"/>
            <a:ext cx="3900676" cy="3456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" y="4416552"/>
            <a:ext cx="5660136" cy="182880"/>
          </a:xfrm>
          <a:prstGeom prst="rect">
            <a:avLst/>
          </a:prstGeom>
          <a:solidFill>
            <a:srgbClr val="0A0A0A">
              <a:alpha val="82000"/>
            </a:srgbClr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策略与仿真页：A/B 方案、温度预测、控制参数、安全校验和 L2 审批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6583680" y="1124712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0E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20840" y="1261872"/>
            <a:ext cx="530352" cy="246888"/>
          </a:xfrm>
          <a:prstGeom prst="roundRect">
            <a:avLst>
              <a:gd name="adj" fmla="val 44444"/>
            </a:avLst>
          </a:prstGeom>
          <a:solidFill>
            <a:srgbClr val="0070F3"/>
          </a:solidFill>
          <a:ln w="6350">
            <a:solidFill>
              <a:srgbClr val="0070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271016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333488" y="12801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平滑逼近目标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6729984" y="1700784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预计恢复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6729984" y="18470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h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680960" y="1700784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预计能耗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7680960" y="18470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1,170 kWh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6729984" y="209397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过冲风险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6729984" y="22402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7680960" y="209397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冻害风险</a:t>
            </a:r>
            <a:endParaRPr lang="en-US" sz="620" dirty="0"/>
          </a:p>
        </p:txBody>
      </p:sp>
      <p:sp>
        <p:nvSpPr>
          <p:cNvPr id="18" name="Text 15"/>
          <p:cNvSpPr/>
          <p:nvPr/>
        </p:nvSpPr>
        <p:spPr>
          <a:xfrm>
            <a:off x="7680960" y="22402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583680" y="2706624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0840" y="2843784"/>
            <a:ext cx="530352" cy="246888"/>
          </a:xfrm>
          <a:prstGeom prst="roundRect">
            <a:avLst>
              <a:gd name="adj" fmla="val 44444"/>
            </a:avLst>
          </a:prstGeom>
          <a:solidFill>
            <a:srgbClr val="40404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2852928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333488" y="28620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快速强制降温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6729984" y="328269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预计恢复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6729984" y="342900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h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680960" y="328269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预计能耗</a:t>
            </a:r>
            <a:endParaRPr lang="en-US" sz="620" dirty="0"/>
          </a:p>
        </p:txBody>
      </p:sp>
      <p:sp>
        <p:nvSpPr>
          <p:cNvPr id="26" name="Text 23"/>
          <p:cNvSpPr/>
          <p:nvPr/>
        </p:nvSpPr>
        <p:spPr>
          <a:xfrm>
            <a:off x="7680960" y="342900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887 kWh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6729984" y="367588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过冲风险</a:t>
            </a:r>
            <a:endParaRPr lang="en-US" sz="620" dirty="0"/>
          </a:p>
        </p:txBody>
      </p:sp>
      <p:sp>
        <p:nvSpPr>
          <p:cNvPr id="28" name="Text 25"/>
          <p:cNvSpPr/>
          <p:nvPr/>
        </p:nvSpPr>
        <p:spPr>
          <a:xfrm>
            <a:off x="6729984" y="38221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7680960" y="367588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冻害风险</a:t>
            </a:r>
            <a:endParaRPr lang="en-US" sz="620" dirty="0"/>
          </a:p>
        </p:txBody>
      </p:sp>
      <p:sp>
        <p:nvSpPr>
          <p:cNvPr id="30" name="Text 27"/>
          <p:cNvSpPr/>
          <p:nvPr/>
        </p:nvSpPr>
        <p:spPr>
          <a:xfrm>
            <a:off x="7680960" y="38221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0" y="4297680"/>
            <a:ext cx="2084832" cy="393192"/>
          </a:xfrm>
          <a:prstGeom prst="roundRect">
            <a:avLst>
              <a:gd name="adj" fmla="val 18605"/>
            </a:avLst>
          </a:prstGeom>
          <a:solidFill>
            <a:srgbClr val="FEF9E7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20840" y="43891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C6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结论：不是只选“更快”，而是让恢复速度、能耗和货品风险可比较。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仿真值来自当前一阶热力学近似模型，仅用于技术可行性演示；不得视为真实冷库节能或恢复成效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SAFETY &amp;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安全不是 Prompt：模型、规则、人和设备边界分层治理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124712"/>
            <a:ext cx="38862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1005840" cy="246888"/>
          </a:xfrm>
          <a:prstGeom prst="roundRect">
            <a:avLst>
              <a:gd name="adj" fmla="val 44444"/>
            </a:avLst>
          </a:prstGeom>
          <a:solidFill>
            <a:srgbClr val="E0EFFF"/>
          </a:solidFill>
          <a:ln w="6350">
            <a:solidFill>
              <a:srgbClr val="E0E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350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四级自治边界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682496"/>
            <a:ext cx="3438144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830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739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9384" y="1773936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自动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670048" y="17647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读取数据、识别异常，不改变设备状态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58368" y="2340864"/>
            <a:ext cx="3438144" cy="530352"/>
          </a:xfrm>
          <a:prstGeom prst="roundRect">
            <a:avLst>
              <a:gd name="adj" fmla="val 13793"/>
            </a:avLst>
          </a:prstGeom>
          <a:solidFill>
            <a:srgbClr val="E0E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414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9384" y="243230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自动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2670048" y="2423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输出诊断、方案与核查建议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3438144" cy="530352"/>
          </a:xfrm>
          <a:prstGeom prst="roundRect">
            <a:avLst>
              <a:gd name="adj" fmla="val 13793"/>
            </a:avLst>
          </a:prstGeom>
          <a:solidFill>
            <a:srgbClr val="FEF9E7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09981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0906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受控执行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9384" y="3090672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必须人工审批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2670048" y="3081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方案绑定版本，执行前再次安全检查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58368" y="3657600"/>
            <a:ext cx="3438144" cy="530352"/>
          </a:xfrm>
          <a:prstGeom prst="roundRect">
            <a:avLst>
              <a:gd name="adj" fmla="val 13793"/>
            </a:avLst>
          </a:prstGeom>
          <a:solidFill>
            <a:srgbClr val="0A0A0A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7581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永久禁止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9384" y="37490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规则直接拦截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2670048" y="37398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联锁绕过等动作不进入控制链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5800" y="4370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五项确定性检查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47672" y="43616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参数白名单  ·  上下限  ·  变化速率  ·  冲突检测  ·  权限校验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553712" y="1124712"/>
            <a:ext cx="4114800" cy="2578608"/>
          </a:xfrm>
          <a:prstGeom prst="roundRect">
            <a:avLst>
              <a:gd name="adj" fmla="val 2837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pic>
        <p:nvPicPr>
          <p:cNvPr id="30" name="Image 0" descr="X:\xianniu\frontend\acceptance\agent-l3-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008" y="1179576"/>
            <a:ext cx="3950208" cy="2468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672584" y="3429000"/>
            <a:ext cx="3877056" cy="182880"/>
          </a:xfrm>
          <a:prstGeom prst="rect">
            <a:avLst/>
          </a:prstGeom>
          <a:solidFill>
            <a:srgbClr val="0A0A0A">
              <a:alpha val="82000"/>
            </a:srgbClr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真实页面：L3 “关闭联锁并强制满负荷”被永久拦截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553712" y="386791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0A0A0A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91456" y="4059936"/>
            <a:ext cx="768096" cy="246888"/>
          </a:xfrm>
          <a:prstGeom prst="roundRect">
            <a:avLst>
              <a:gd name="adj" fmla="val 44444"/>
            </a:avLst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91456" y="4069080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733288" y="4014216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最多参与诊断综合；安全、审批、控制命令和执行永远不由模型决定。</a:t>
            </a:r>
            <a:endParaRPr lang="en-US" sz="940" dirty="0"/>
          </a:p>
        </p:txBody>
      </p:sp>
      <p:sp>
        <p:nvSpPr>
          <p:cNvPr id="36" name="Text 33"/>
          <p:cNvSpPr/>
          <p:nvPr/>
        </p:nvSpPr>
        <p:spPr>
          <a:xfrm>
            <a:off x="5733288" y="4425696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当前实现提供工程级约束，不宣称等同于经认证的功能安全系统。</a:t>
            </a:r>
            <a:endParaRPr lang="en-US" sz="630" dirty="0"/>
          </a:p>
        </p:txBody>
      </p:sp>
      <p:sp>
        <p:nvSpPr>
          <p:cNvPr id="37" name="Text 34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实现证据：backend/app/domain/safety.py、approval.py、execution.py；L3 只写审计，不创建方案/审批/命令/任务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技术架构：把 Agent 能力嵌入可测试的业务用例层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22960" cy="246888"/>
          </a:xfrm>
          <a:prstGeom prst="roundRect">
            <a:avLst>
              <a:gd name="adj" fmla="val 44444"/>
            </a:avLst>
          </a:prstGeom>
          <a:solidFill>
            <a:srgbClr val="E0EFFF"/>
          </a:solidFill>
          <a:ln w="6350">
            <a:solidFill>
              <a:srgbClr val="E0E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5214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产品层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609344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TypeScript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630936" y="18928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个业务模块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驾驶舱 / 监控 / Agent / 仿真 / 审计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2350008" y="1499616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1609344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ColdPilotClient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478024" y="18928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唯一数据边界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与 HTTP 可切换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2112264" y="1883664"/>
            <a:ext cx="201168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5968" y="1143000"/>
            <a:ext cx="914400" cy="246888"/>
          </a:xfrm>
          <a:prstGeom prst="roundRect">
            <a:avLst>
              <a:gd name="adj" fmla="val 44444"/>
            </a:avLst>
          </a:prstGeom>
          <a:solidFill>
            <a:srgbClr val="E0EFFF"/>
          </a:solidFill>
          <a:ln w="6350">
            <a:solidFill>
              <a:srgbClr val="E0E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1521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与用例层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15968" y="1499616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160934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Pydantic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443984" y="1892808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个业务 API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冻结契约 + 结构化 Schema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6254496" y="1499616"/>
            <a:ext cx="2359152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6093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Use Cases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382512" y="1892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 · simulation · approval · execution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3977640" y="1883664"/>
            <a:ext cx="292608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25896" y="1883664"/>
            <a:ext cx="182880" cy="0"/>
          </a:xfrm>
          <a:prstGeom prst="line">
            <a:avLst/>
          </a:prstGeom>
          <a:noFill/>
          <a:ln w="17780">
            <a:solidFill>
              <a:srgbClr val="0070F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" y="2596896"/>
            <a:ext cx="8110728" cy="0"/>
          </a:xfrm>
          <a:prstGeom prst="line">
            <a:avLst/>
          </a:prstGeom>
          <a:noFill/>
          <a:ln w="13970">
            <a:solidFill>
              <a:srgbClr val="EBEB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734056"/>
            <a:ext cx="822960" cy="246888"/>
          </a:xfrm>
          <a:prstGeom prst="roundRect">
            <a:avLst>
              <a:gd name="adj" fmla="val 44444"/>
            </a:avLst>
          </a:prstGeom>
          <a:solidFill>
            <a:srgbClr val="FEF9E7"/>
          </a:solidFill>
          <a:ln w="6350">
            <a:solidFill>
              <a:srgbClr val="FEF9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4320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6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核心能力层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3099816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209544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30936" y="3493008"/>
            <a:ext cx="1161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确定性默认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LLM 综合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2130552" y="3099816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58568" y="3209544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Registry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2258568" y="3493008"/>
            <a:ext cx="1161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五类工具协议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IO 留痕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3758184" y="3099816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EF9E7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3209544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Engine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886200" y="3493008"/>
            <a:ext cx="1161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五项检查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永久拦截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5385816" y="3099816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3209544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Thermal Simulator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513832" y="3493008"/>
            <a:ext cx="1161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一阶热力学近似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预测曲线与风险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7013448" y="3099816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41464" y="3209544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Worker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7141464" y="3493008"/>
            <a:ext cx="1161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/ 执行任务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逐步可观察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02920" y="4187952"/>
            <a:ext cx="8110728" cy="438912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297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Async + SQLite WAL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16352" y="4288536"/>
            <a:ext cx="5468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张表覆盖遥测、Agent 任务、证据、方案版本、仿真、审批、命令、执行、报告与安全审计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当前为单进程 MVP：无 Redis、消息队列、微服务、向量数据库或真实设备网关；生产化路线见第 11 页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ENGINEERING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工程完成度：可运行、可验证、可复现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143000"/>
            <a:ext cx="14447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143000"/>
            <a:ext cx="45720" cy="1225296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3504" y="17647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2002536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驾驶舱到报告审计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103120" y="1143000"/>
            <a:ext cx="14447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143000"/>
            <a:ext cx="45720" cy="12252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2618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67712" y="17647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API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67712" y="2002536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前后端冻结契约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67328" y="1143000"/>
            <a:ext cx="14447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67328" y="1143000"/>
            <a:ext cx="45720" cy="1225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2618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0" y="17647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0" y="2002536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覆盖完整事件闭环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8912" y="2587752"/>
            <a:ext cx="14447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87752"/>
            <a:ext cx="45720" cy="1225296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03504" y="32095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工作流阶段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" y="3447288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状态与守卫可测试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103120" y="2587752"/>
            <a:ext cx="14447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3120" y="2587752"/>
            <a:ext cx="45720" cy="12252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267712" y="32095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工具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67712" y="3447288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真实调用、结构化留痕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767328" y="2587752"/>
            <a:ext cx="144475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8890">
            <a:solidFill>
              <a:srgbClr val="EBEB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67328" y="2587752"/>
            <a:ext cx="45720" cy="1225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931920" y="32095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31920" y="3447288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50 + 后端 59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532120" y="1143000"/>
            <a:ext cx="3136392" cy="2706624"/>
          </a:xfrm>
          <a:prstGeom prst="roundRect">
            <a:avLst>
              <a:gd name="adj" fmla="val 2703"/>
            </a:avLst>
          </a:prstGeom>
          <a:solidFill>
            <a:srgbClr val="0A0A0A"/>
          </a:solidFill>
          <a:ln w="8890">
            <a:solidFill>
              <a:srgbClr val="0A0A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79008" y="1380744"/>
            <a:ext cx="749808" cy="246888"/>
          </a:xfrm>
          <a:prstGeom prst="roundRect">
            <a:avLst>
              <a:gd name="adj" fmla="val 44444"/>
            </a:avLst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138988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复现路径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79008" y="17465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不是只有截图：工程材料可直接运行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97296" y="2249424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222199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双数据模式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839712" y="22219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独立演示 / HTTP 全栈联调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5797296" y="2505456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247802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后端接口文档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839712" y="2478024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/internal/docs + OpenAPI 契约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5797296" y="2761488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16752" y="27340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数据库迁移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839712" y="27340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Alembic 一键建表与演示种子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5797296" y="3017520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6752" y="299008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质量门禁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6839712" y="299008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typecheck / test / lint / build / ruff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5797296" y="3273552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16752" y="324612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浏览器验收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6839712" y="324612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关键页面与 Agent 状态全程留图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5797296" y="3529584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35021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部署边界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6839712" y="350215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worker 运行要求已明确记录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5532120" y="4014216"/>
            <a:ext cx="3136392" cy="621792"/>
          </a:xfrm>
          <a:prstGeom prst="roundRect">
            <a:avLst>
              <a:gd name="adj" fmla="val 11765"/>
            </a:avLst>
          </a:prstGeom>
          <a:solidFill>
            <a:srgbClr val="E0E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42432" y="4178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F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拟开放复用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83680" y="415137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工具协议 · 安全策略 · 仿真器 · 示例数据 · 部署文档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工程数量依据当前源码；测试数量为前端 50 个与后端 59 个，提交前已重新运行关键质量门禁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COMPLIANCE &amp; LIMITS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合规与边界：明确“已实现”与“落地前必须补齐”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143000"/>
            <a:ext cx="3959352" cy="3310128"/>
          </a:xfrm>
          <a:prstGeom prst="roundRect">
            <a:avLst>
              <a:gd name="adj" fmla="val 2210"/>
            </a:avLst>
          </a:prstGeom>
          <a:solidFill>
            <a:srgbClr val="E0E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62456"/>
            <a:ext cx="731520" cy="246888"/>
          </a:xfrm>
          <a:prstGeom prst="roundRect">
            <a:avLst>
              <a:gd name="adj" fmla="val 44444"/>
            </a:avLst>
          </a:prstGeom>
          <a:solidFill>
            <a:srgbClr val="0070F3"/>
          </a:solidFill>
          <a:ln w="6350">
            <a:solidFill>
              <a:srgbClr val="007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08760" y="1362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当前系统已经做到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" y="1892808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86537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演示数据、仿真结果和真实数据预留分别标注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94944" y="2286000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5856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人工审批与方案版本绑定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94944" y="2679192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6517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危险动作永久拦截并写入审计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94944" y="3072384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04495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执行前再次进行确定性安全检查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94944" y="3465576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43814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输出经结构化 Schema 校验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94944" y="3858768"/>
            <a:ext cx="146304" cy="14630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8313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执行或验证失败可回退传统规则 / PID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727448" y="1143000"/>
            <a:ext cx="3959352" cy="3310128"/>
          </a:xfrm>
          <a:prstGeom prst="roundRect">
            <a:avLst>
              <a:gd name="adj" fmla="val 2210"/>
            </a:avLst>
          </a:prstGeom>
          <a:solidFill>
            <a:srgbClr val="FEF9E7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46904" y="1362456"/>
            <a:ext cx="731520" cy="246888"/>
          </a:xfrm>
          <a:prstGeom prst="roundRect">
            <a:avLst>
              <a:gd name="adj" fmla="val 44444"/>
            </a:avLst>
          </a:prstGeom>
          <a:solidFill>
            <a:srgbClr val="0A0A0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1371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97296" y="1362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真实落地前必须补齐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1892808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86537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真实身份认证、RBAC 与多级审批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983480" y="2286000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25856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传感器与业务数据授权、最小化和脱敏策略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983480" y="2679192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6517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外部模型供应商、数据保留和私有化部署约定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983480" y="3072384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04495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PLC / 边缘网关的二次边界校验与人工接管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983480" y="3465576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43814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外部不可变审计存储、密钥管理和 API 限流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983480" y="3858768"/>
            <a:ext cx="146304" cy="14630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8313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真实冷库模型校准、工业安全评估与试点验收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658368" y="456285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不做过度声称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36776" y="4544568"/>
            <a:ext cx="6510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当前无真实 PLC、无真实试点、无工业安全认证；哈希链只能检测链条被修改，不等于密码学不可抵赖。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438912" y="4800600"/>
            <a:ext cx="7726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合规策略：先只读、再影子仿真、后 L1 建议，最后才在 L2 人工审批下接入受控执行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ROADMAP &amp; OPEN SOURCE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612648"/>
            <a:ext cx="7882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从可运行 MVP 走向真实冷库的受控落地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93776" y="11795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永久边界：L3 联锁绕过类动作始终不交给 Agent 执行。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691640"/>
            <a:ext cx="1773936" cy="205740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8890">
            <a:solidFill>
              <a:srgbClr val="007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7452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97864" y="19202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个月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235915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只读试点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980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接入真实传感器，对比 Agent 诊断与人工判断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298448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419856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58368" y="3593592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诊断耗时 / 原因命中率 / 误报率</a:t>
            </a:r>
            <a:endParaRPr lang="en-US" sz="580" dirty="0"/>
          </a:p>
        </p:txBody>
      </p:sp>
      <p:sp>
        <p:nvSpPr>
          <p:cNvPr id="13" name="Shape 11"/>
          <p:cNvSpPr/>
          <p:nvPr/>
        </p:nvSpPr>
        <p:spPr>
          <a:xfrm>
            <a:off x="2304288" y="2715768"/>
            <a:ext cx="228600" cy="0"/>
          </a:xfrm>
          <a:prstGeom prst="line">
            <a:avLst/>
          </a:prstGeom>
          <a:noFill/>
          <a:ln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78608" y="1691640"/>
            <a:ext cx="1773936" cy="205740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187452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282696" y="19202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个月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34056" y="235915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影子仿真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7980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历史数据校准模型，方案不下发设备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816352" y="3337560"/>
            <a:ext cx="1298448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419856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743200" y="3593592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温度与能耗预测误差</a:t>
            </a:r>
            <a:endParaRPr lang="en-US" sz="580" dirty="0"/>
          </a:p>
        </p:txBody>
      </p:sp>
      <p:sp>
        <p:nvSpPr>
          <p:cNvPr id="22" name="Shape 20"/>
          <p:cNvSpPr/>
          <p:nvPr/>
        </p:nvSpPr>
        <p:spPr>
          <a:xfrm>
            <a:off x="4389120" y="2715768"/>
            <a:ext cx="228600" cy="0"/>
          </a:xfrm>
          <a:prstGeom prst="line">
            <a:avLst/>
          </a:prstGeom>
          <a:noFill/>
          <a:ln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63440" y="1691640"/>
            <a:ext cx="1773936" cy="205740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87452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367528" y="19202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 个月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235915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建议运行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27980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给建议，由值班员人工执行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901184" y="3337560"/>
            <a:ext cx="1298448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419856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828032" y="3593592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采纳率 / 货损 / 能耗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6473952" y="2715768"/>
            <a:ext cx="228600" cy="0"/>
          </a:xfrm>
          <a:prstGeom prst="line">
            <a:avLst/>
          </a:prstGeom>
          <a:noFill/>
          <a:ln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48272" y="1691640"/>
            <a:ext cx="1773936" cy="205740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8890">
            <a:solidFill>
              <a:srgbClr val="D4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87452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452360" y="192024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 个月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2359152"/>
            <a:ext cx="1444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 L2 接入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12864" y="27980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边缘二次校验、人工审批、人工接管与 PID 回退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986016" y="3337560"/>
            <a:ext cx="1298448" cy="0"/>
          </a:xfrm>
          <a:prstGeom prst="line">
            <a:avLst/>
          </a:prstGeom>
          <a:noFill/>
          <a:ln w="10160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2864" y="3419856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912864" y="3593592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安全事件 / 恢复时间 / 可用性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493776" y="4041648"/>
            <a:ext cx="5157216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4224528"/>
            <a:ext cx="475488" cy="246888"/>
          </a:xfrm>
          <a:prstGeom prst="roundRect">
            <a:avLst>
              <a:gd name="adj" fmla="val 44444"/>
            </a:avLst>
          </a:prstGeom>
          <a:solidFill>
            <a:srgbClr val="0070F3"/>
          </a:solidFill>
          <a:ln w="6350">
            <a:solidFill>
              <a:srgbClr val="0070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23367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335024" y="42062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可运行全栈 MVP，任务闭环、安全边界与工程复现已验证。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70448" y="4041648"/>
            <a:ext cx="2706624" cy="612648"/>
          </a:xfrm>
          <a:prstGeom prst="roundRect">
            <a:avLst>
              <a:gd name="adj" fmla="val 11940"/>
            </a:avLst>
          </a:prstGeom>
          <a:solidFill>
            <a:srgbClr val="D4AF37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41879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期待连接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75120" y="41879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真实冷库场景 · 历史数据 · 设备接口</a:t>
            </a:r>
            <a:endParaRPr lang="en-US" sz="710" dirty="0"/>
          </a:p>
        </p:txBody>
      </p:sp>
      <p:sp>
        <p:nvSpPr>
          <p:cNvPr id="47" name="Text 45"/>
          <p:cNvSpPr/>
          <p:nvPr/>
        </p:nvSpPr>
        <p:spPr>
          <a:xfrm>
            <a:off x="502920" y="4828032"/>
            <a:ext cx="7744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spc="45" kern="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REUSE  ·  TOOL CONTRACTS  ·  SAFETY POLICIES  ·  SIMULATOR  ·  SAMPLE DATA  ·  DOCS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鲜知 ColdPilot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鲜知 ColdPilot：果蔬冷库安全可控工业 Agent</dc:title>
  <dc:subject>GOAI 世界人工智能开源大赛初赛方案</dc:subject>
  <dc:creator>鲜知 ColdPilot 项目团队</dc:creator>
  <cp:lastModifiedBy>鲜知 ColdPilot 项目团队</cp:lastModifiedBy>
  <cp:revision>1</cp:revision>
  <dcterms:created xsi:type="dcterms:W3CDTF">2026-07-25T05:34:01Z</dcterms:created>
  <dcterms:modified xsi:type="dcterms:W3CDTF">2026-07-25T05:34:01Z</dcterms:modified>
</cp:coreProperties>
</file>